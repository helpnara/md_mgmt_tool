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439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92000"/>
            <a:ext cx="21384000" cy="79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80000" y="540000"/>
            <a:ext cx="4248000" cy="396000"/>
          </a:xfrm>
          <a:prstGeom prst="roundRect">
            <a:avLst>
              <a:gd name="adj" fmla="val 50000"/>
            </a:avLst>
          </a:prstGeom>
          <a:solidFill>
            <a:srgbClr val="09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633600"/>
            <a:ext cx="42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2026 사내 AX 성과공유회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52000"/>
            <a:ext cx="192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00" b="1">
                <a:solidFill>
                  <a:srgbClr val="FFFFFF"/>
                </a:solidFill>
                <a:latin typeface="맑은 고딕"/>
              </a:rPr>
              <a:t>개발을 기다리지 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2880000"/>
            <a:ext cx="19224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2400" b="0">
                <a:solidFill>
                  <a:srgbClr val="9CC3EE"/>
                </a:solidFill>
                <a:latin typeface="맑은 고딕"/>
              </a:rPr>
              <a:t>AI와 함께 만든 현업 업무혁신 — 개발 리소스 없이 엿새 만에 구축한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맑은 고딕"/>
              </a:rPr>
              <a:t>팀 과제관리 · 보고지원 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3816000"/>
            <a:ext cx="19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C3EE"/>
                </a:solidFill>
                <a:latin typeface="맑은 고딕"/>
              </a:rPr>
              <a:t>선강DX개발팀   |   발표자 권경락   |   2026.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63240" y="1296000"/>
            <a:ext cx="28800" cy="223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87240" y="1296000"/>
            <a:ext cx="7016759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만들 사람이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매일 쓸 사람이면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요구정의도, 검수도,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재작업도 없습니다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80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0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2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구축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F2A47"/>
                </a:solidFill>
                <a:latin typeface="맑은 고딕"/>
              </a:rPr>
              <a:t>6일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2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실작업 36시간 · 1명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32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5~6개월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9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9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1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1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0.23 M/M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1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요구·개발·검수 1인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1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1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19 M/M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18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8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70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70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약 313만 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인건비 + AI 요금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070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70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약 2.3억 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87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E4F5EE"/>
          </a:solidFill>
          <a:ln w="2032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87000" y="4824000"/>
            <a:ext cx="4617000" cy="10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39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8A5F"/>
                </a:solidFill>
                <a:latin typeface="맑은 고딕"/>
              </a:rPr>
              <a:t>절감 효과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39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8A5F"/>
                </a:solidFill>
                <a:latin typeface="맑은 고딕"/>
              </a:rPr>
              <a:t>약 74배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939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약 2억 2,687만 원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939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939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8A5F"/>
                </a:solidFill>
                <a:latin typeface="맑은 고딕"/>
              </a:rPr>
              <a:t>비용 기준 98.6%↓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0000" y="8064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0000" y="8146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000" y="8042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왜 만들었나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000" y="8647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정보는 흩어져 있었고, 무엇을 보고할지는 기억에 의존했다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0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FDF3E3"/>
          </a:solidFill>
          <a:ln w="15240">
            <a:solidFill>
              <a:srgbClr val="A15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0000" y="9000000"/>
            <a:ext cx="115200" cy="2592000"/>
          </a:xfrm>
          <a:prstGeom prst="rect">
            <a:avLst/>
          </a:prstGeom>
          <a:solidFill>
            <a:srgbClr val="A15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12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1590B"/>
                </a:solidFill>
                <a:latin typeface="맑은 고딕"/>
              </a:rPr>
              <a:t>BEFORE   지금까지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2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정보가 개인 메모·메일·엑셀에 흩어져 이력과 자료를 한 번에 볼 수 없음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매주 어떤 과제를 보고할지 판단 기준이 없어 담당자의 기억과 경험에 의존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무엇을 보고했는지 기록이 남지 않아 중복 작성·누락 가능성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72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EBF2FE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72000" y="9000000"/>
            <a:ext cx="115200" cy="259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04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맑은 고딕"/>
              </a:rPr>
              <a:t>AFTER   지금은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04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1건 = 폴더 1개. 개요·진행이력·첨부·보고가 한자리에 모임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미보고 경과일과 새 진행분으로 이번 주 보고 대상을 자동 추천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확정 보고는 그 시점 스냅샷으로 고정 — 무엇을 보고했는지 그대로 남음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10368000" y="10116000"/>
            <a:ext cx="648000" cy="360000"/>
          </a:xfrm>
          <a:prstGeom prst="rightArrow">
            <a:avLst/>
          </a:prstGeom>
          <a:solidFill>
            <a:srgbClr val="0F2A4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80000" y="1198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0000" y="1207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000" y="1196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0" y="1257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관리부터 주간보고 작성까지, 한 도구 안에서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00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00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800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32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0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과제 중심 통합관리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0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개요·날짜별 진행이력·첨부를 한 구조로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원본은 Markdown 파일·폴더 — 특정 프로그램에 종속 안 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태그·담당자·상태로 정렬·필터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752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752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752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272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12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데이터 기반 보고대상 추천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12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마지막 보고 이후 경과일 + 새 진행분으로 필요도 산정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이번 주 확인할 과제를 순서대로 제시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기억이 아니라 기록으로 판단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8704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704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704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224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864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보고 초안 자동생성 · 이력 고정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864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이후 진행분만 모아 초안 생성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확정본은 스냅샷으로 잠금 — 당시 내용 그대로 보존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대비 변경분·보고 이력 검색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7656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7656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56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0176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16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팀 현황 · 팀원 역량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16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홈에서 연도별 팀 현황 · 팀원별 수행 현황을 한 화면에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교육·세미나 이력을 사람 기준으로 — 면담 자료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과제 × 월 보고 표로 한 해 보고 이력 확인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66608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6608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6608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9128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⑤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8768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사내망 전용 · 오프라인 배포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8768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데이터가 내 PC 밖으로 나가지 않음 (외부 전송 없음)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AI 요약도 호출 없이 프롬프트만 복사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인터넷 차단 PC 에서 ZIP 하나로 설치 · 백업 · 버전 보관</a:t>
            </a:r>
          </a:p>
        </p:txBody>
      </p:sp>
      <p:pic>
        <p:nvPicPr>
          <p:cNvPr id="87" name="Picture 86" descr="scree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5732000"/>
            <a:ext cx="4644000" cy="2322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108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홈 — 그 해 팀 현황과 팀원별 수행·효과를 한 화면에</a:t>
            </a:r>
          </a:p>
        </p:txBody>
      </p:sp>
      <p:pic>
        <p:nvPicPr>
          <p:cNvPr id="90" name="Picture 89" descr="screen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0" y="15732000"/>
            <a:ext cx="4644000" cy="2322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594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4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과제 목록 — 상태 · 담당자 · 마감 · 효과 · 미보고</a:t>
            </a:r>
          </a:p>
        </p:txBody>
      </p:sp>
      <p:pic>
        <p:nvPicPr>
          <p:cNvPr id="93" name="Picture 92" descr="screen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000" y="15732000"/>
            <a:ext cx="4644000" cy="2322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1080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0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보고 대상 후보 — 미보고 경과일 순으로 자동 추천</a:t>
            </a:r>
          </a:p>
        </p:txBody>
      </p:sp>
      <p:pic>
        <p:nvPicPr>
          <p:cNvPr id="96" name="Picture 95" descr="screen-skil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0000" y="15732000"/>
            <a:ext cx="4644000" cy="2322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1566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66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팀원 역량 — 교육·세미나 이력을 사람 기준으로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80000" y="18630000"/>
            <a:ext cx="19224000" cy="900000"/>
          </a:xfrm>
          <a:prstGeom prst="roundRect">
            <a:avLst>
              <a:gd name="adj" fmla="val 12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80000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코드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0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16,415줄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26285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26285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API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826285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64개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72571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72571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자동 시험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72571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486건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18857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18857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화면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8857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8개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2065142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065142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저장 테이블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65142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10개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811428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811428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기능점수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1428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363 FP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557714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7557714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개선 반영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557714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90건/91건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080000" y="1999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80000" y="2008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64000" y="1997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얼마나 아꼈나 — 외주 개발 대비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0000" y="2058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같은 시스템을 외부 인원에게 맡겼을 때의 비용을 기능점수로 산정해 비교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80000" y="20934000"/>
            <a:ext cx="19224000" cy="38880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512000" y="21294000"/>
            <a:ext cx="8843040" cy="52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692000" y="21445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164912" y="21445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(추정)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48406" y="21438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실제 (AI 협업)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12000" y="22323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92000" y="21967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64912" y="21967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19 M/M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48406" y="21960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0.23 M/M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512000" y="22845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692000" y="22489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기간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64912" y="22489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5~6개월 · 3~4명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348406" y="22482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6일 · 1명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512000" y="23367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692000" y="23011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64912" y="23011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약 2.3억 원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48406" y="23004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약 313만 원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076480" y="21294000"/>
            <a:ext cx="8074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비용 비교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1076480" y="21654000"/>
            <a:ext cx="8074080" cy="46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292480" y="21769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 약 2.3억 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76480" y="22266000"/>
            <a:ext cx="8074080" cy="46800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076480" y="22266000"/>
            <a:ext cx="144000" cy="46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400480" y="22381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8A5F"/>
                </a:solidFill>
                <a:latin typeface="맑은 고딕"/>
              </a:rPr>
              <a:t>실제  약 313만 원  (1.4%)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076480" y="22842000"/>
            <a:ext cx="8074080" cy="684000"/>
          </a:xfrm>
          <a:prstGeom prst="roundRect">
            <a:avLst>
              <a:gd name="adj" fmla="val 12000"/>
            </a:avLst>
          </a:prstGeom>
          <a:solidFill>
            <a:srgbClr val="E4F5EE"/>
          </a:solidFill>
          <a:ln w="1524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076480" y="22986000"/>
            <a:ext cx="807408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8A5F"/>
                </a:solidFill>
                <a:latin typeface="맑은 고딕"/>
              </a:rPr>
              <a:t>약 2억 2,687만 원 절감  ·  약 74배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512000" y="23634000"/>
            <a:ext cx="18360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512000" y="23778000"/>
            <a:ext cx="18360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산출 근거   CRUD 행렬(엔티티 12 × API 64) → 기능점수 간이법 363 FP → 기능점수법·코드라인법·상향식 3중 교차검증 = 19 M/M (범위 15~23). 비용은 시장 실거래 단가·대가산정 가이드·FP 단가 세 방식(1.9~3.1억)의 중간값. 실제 비용의 AI 요금은 대화 2,702회·입력 11.0억 토큰 실측 기준 약 133만 원.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이 차이의 절반은 AI의 구현 속도이고, 나머지 절반은 요구자·개발자·검수자가 같은 사람일 때 사라지는 회의·문서·검수 비용입니다 (외주 19 M/M 중 5.8 M/M, 31%).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080000" y="2521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0000" y="2530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4000" y="2519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어떻게 만들었나, 그리고 앞으로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080000" y="25902000"/>
            <a:ext cx="980928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440000" y="26190000"/>
            <a:ext cx="90892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AI 협업 개발 6단계 — 다른 업무에도 그대로 쓸 수 있는 방법론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4400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4400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문제 정의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97048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7048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업무규칙 설계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0096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50096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AI 협업 구현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144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03144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자동 시험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56192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56192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실사용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24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0924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개선 반영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440000" y="27306000"/>
            <a:ext cx="908928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5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코드부터 쓰지 않았습니다. 문제와 업무규칙을 먼저 정의하고 시험 기준을 확정한 뒤, 구현·디버깅·시험을 AI와 반복했습니다. 실사용 결함은 보고 당일 수정했습니다.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접수·점검한 개선 91건 중 90건 반영, 1건은 판단 대기.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1249280" y="25902000"/>
            <a:ext cx="9054720" cy="2520000"/>
          </a:xfrm>
          <a:prstGeom prst="roundRect">
            <a:avLst>
              <a:gd name="adj" fmla="val 8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1609280" y="26190000"/>
            <a:ext cx="8334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앞으로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1609280" y="265608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1609280" y="266184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1단계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329280" y="265644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사내 서버로 확장 — 여러 팀장 공동 사용, 사용자·과제번호·권한 체계 표준화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1609280" y="269784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609280" y="270360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2단계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329280" y="269820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주간회의 선정 과제와 의사결정 이력까지 관리 — 의사결정 지원 시스템으로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609280" y="273960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1609280" y="274536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3단계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329280" y="273996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축적된 데이터로 업무현황·이슈 분석, 반복 보고 업무를 AI가 지원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1609280" y="278136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609280" y="278712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확산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329280" y="278172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이 6단계 방법론을 표준화해 다른 현업도 직접 업무도구를 만들도록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80000" y="28638000"/>
            <a:ext cx="19224000" cy="216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80000" y="28782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8899"/>
                </a:solidFill>
                <a:latin typeface="맑은 고딕"/>
              </a:rPr>
              <a:t>규모·기간·시험 건수는 2026-09-07 실측치입니다. 외주 비용은 기능점수 기반 추정이며, 단가(시장 단가·직접인건비·FP 단가)는 가정값이므로 「소프트웨어사업 대가산정 가이드」와 「SW기술자 평균임금」 최신 공표치로 대체해 확인하시기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