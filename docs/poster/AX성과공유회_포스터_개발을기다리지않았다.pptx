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0276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384000" cy="439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392000"/>
            <a:ext cx="21384000" cy="792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80000" y="540000"/>
            <a:ext cx="4248000" cy="396000"/>
          </a:xfrm>
          <a:prstGeom prst="roundRect">
            <a:avLst>
              <a:gd name="adj" fmla="val 50000"/>
            </a:avLst>
          </a:prstGeom>
          <a:solidFill>
            <a:srgbClr val="09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0000" y="633600"/>
            <a:ext cx="424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2026 사내 AX 성과공유회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52000"/>
            <a:ext cx="19224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00" b="1">
                <a:solidFill>
                  <a:srgbClr val="FFFFFF"/>
                </a:solidFill>
                <a:latin typeface="맑은 고딕"/>
              </a:rPr>
              <a:t>개발을 기다리지 않았다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2880000"/>
            <a:ext cx="19224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2400" b="0">
                <a:solidFill>
                  <a:srgbClr val="9CC3EE"/>
                </a:solidFill>
                <a:latin typeface="맑은 고딕"/>
              </a:rPr>
              <a:t>AI와 함께 만든 현업 업무혁신 — 개발 리소스 없이 3일 만에 구축한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맑은 고딕"/>
              </a:rPr>
              <a:t>팀 과제관리 · 보고지원 시스템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3816000"/>
            <a:ext cx="19224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9CC3EE"/>
                </a:solidFill>
                <a:latin typeface="맑은 고딕"/>
              </a:rPr>
              <a:t>선강DX개발팀   |   발표자 권경락   |   2026. 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12963240" y="1296000"/>
            <a:ext cx="28800" cy="223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87240" y="1296000"/>
            <a:ext cx="7016759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만들 사람이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매일 쓸 사람이면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100" b="0">
                <a:solidFill>
                  <a:srgbClr val="9CC3EE"/>
                </a:solidFill>
                <a:latin typeface="맑은 고딕"/>
              </a:rPr>
              <a:t>요구정의도, 검수도,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맑은 고딕"/>
              </a:rPr>
              <a:t>재작업도 없습니다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80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0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32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구축 기간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32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F2A47"/>
                </a:solidFill>
                <a:latin typeface="맑은 고딕"/>
              </a:rPr>
              <a:t>3일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2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실작업 30시간 · 1명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32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32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4~5개월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9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9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1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01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0.19 M/M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1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요구·개발·검수 1인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1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01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16 M/M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818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818000" y="4824000"/>
            <a:ext cx="4617000" cy="108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70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70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0F2A47"/>
                </a:solidFill>
                <a:latin typeface="맑은 고딕"/>
              </a:rPr>
              <a:t>약 250만 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70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인건비 + AI 요금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070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070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7A8899"/>
                </a:solidFill>
                <a:latin typeface="맑은 고딕"/>
              </a:rPr>
              <a:t>외주 추정 약 2.0억 원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687000" y="4824000"/>
            <a:ext cx="4617000" cy="2808000"/>
          </a:xfrm>
          <a:prstGeom prst="roundRect">
            <a:avLst>
              <a:gd name="adj" fmla="val 10000"/>
            </a:avLst>
          </a:prstGeom>
          <a:solidFill>
            <a:srgbClr val="E4F5EE"/>
          </a:solidFill>
          <a:ln w="2032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5687000" y="4824000"/>
            <a:ext cx="4617000" cy="10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39000" y="5184000"/>
            <a:ext cx="4113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B8A5F"/>
                </a:solidFill>
                <a:latin typeface="맑은 고딕"/>
              </a:rPr>
              <a:t>절감 효과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939000" y="5544000"/>
            <a:ext cx="4113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00" b="1">
                <a:solidFill>
                  <a:srgbClr val="0B8A5F"/>
                </a:solidFill>
                <a:latin typeface="맑은 고딕"/>
              </a:rPr>
              <a:t>약 80배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939000" y="6480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F172A"/>
                </a:solidFill>
                <a:latin typeface="맑은 고딕"/>
              </a:rPr>
              <a:t>약 1억 9,750만 원 절감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5939000" y="6930000"/>
            <a:ext cx="4113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5939000" y="7056000"/>
            <a:ext cx="4113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B8A5F"/>
                </a:solidFill>
                <a:latin typeface="맑은 고딕"/>
              </a:rPr>
              <a:t>비용 기준 98.7%↓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080000" y="8064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80000" y="8146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64000" y="8042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왜 만들었나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0000" y="8647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정보는 흩어져 있었고, 무엇을 보고할지는 기억에 의존했다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80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FDF3E3"/>
          </a:solidFill>
          <a:ln w="15240">
            <a:solidFill>
              <a:srgbClr val="A159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80000" y="9000000"/>
            <a:ext cx="115200" cy="2592000"/>
          </a:xfrm>
          <a:prstGeom prst="rect">
            <a:avLst/>
          </a:prstGeom>
          <a:solidFill>
            <a:srgbClr val="A159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512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A1590B"/>
                </a:solidFill>
                <a:latin typeface="맑은 고딕"/>
              </a:rPr>
              <a:t>BEFORE   지금까지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12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정보가 개인 메모·메일·엑셀에 흩어져 이력과 자료를 한 번에 볼 수 없음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매주 어떤 과제를 보고할지 판단 기준이 없어 담당자의 기억과 경험에 의존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무엇을 보고했는지 기록이 남지 않아 중복 작성·누락 가능성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872000" y="9000000"/>
            <a:ext cx="9432000" cy="2592000"/>
          </a:xfrm>
          <a:prstGeom prst="roundRect">
            <a:avLst>
              <a:gd name="adj" fmla="val 9000"/>
            </a:avLst>
          </a:prstGeom>
          <a:solidFill>
            <a:srgbClr val="EBF2FE"/>
          </a:solidFill>
          <a:ln w="1524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872000" y="9000000"/>
            <a:ext cx="115200" cy="2592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304000" y="9288000"/>
            <a:ext cx="871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F6FEB"/>
                </a:solidFill>
                <a:latin typeface="맑은 고딕"/>
              </a:rPr>
              <a:t>AFTER   지금은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304000" y="9792000"/>
            <a:ext cx="8640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과제 1건 = 폴더 1개. 개요·진행이력·첨부·보고가 한자리에 모임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미보고 경과일과 새 진행분으로 이번 주 보고 대상을 자동 추천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50" b="0">
                <a:solidFill>
                  <a:srgbClr val="0F172A"/>
                </a:solidFill>
                <a:latin typeface="맑은 고딕"/>
              </a:rPr>
              <a:t>· 확정 보고는 그 시점 스냅샷으로 고정 — 무엇을 보고했는지 그대로 남음</a:t>
            </a:r>
          </a:p>
        </p:txBody>
      </p:sp>
      <p:sp>
        <p:nvSpPr>
          <p:cNvPr id="52" name="Right Arrow 51"/>
          <p:cNvSpPr/>
          <p:nvPr/>
        </p:nvSpPr>
        <p:spPr>
          <a:xfrm>
            <a:off x="10368000" y="10116000"/>
            <a:ext cx="648000" cy="360000"/>
          </a:xfrm>
          <a:prstGeom prst="rightArrow">
            <a:avLst/>
          </a:prstGeom>
          <a:solidFill>
            <a:srgbClr val="0F2A47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1080000" y="11988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80000" y="12070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64000" y="11966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무엇을 만들었나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80000" y="12571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과제 관리부터 주간보고 작성까지, 한 도구 안에서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080000" y="12924000"/>
            <a:ext cx="461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080000" y="12924000"/>
            <a:ext cx="46170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80000" y="13752000"/>
            <a:ext cx="4617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332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①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332000" y="13338000"/>
            <a:ext cx="4113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2A47"/>
                </a:solidFill>
                <a:latin typeface="맑은 고딕"/>
              </a:rPr>
              <a:t>과제 중심 통합관리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332000" y="13932000"/>
            <a:ext cx="4149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개요·날짜별 진행이력·첨부를 한 구조로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원본은 Markdown 파일·폴더 — 특정 프로그램에 종속 안 됨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태그·담당자·상태로 정렬·필터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9000" y="12924000"/>
            <a:ext cx="461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949000" y="12924000"/>
            <a:ext cx="46170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949000" y="13752000"/>
            <a:ext cx="4617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01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01000" y="13338000"/>
            <a:ext cx="4113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2A47"/>
                </a:solidFill>
                <a:latin typeface="맑은 고딕"/>
              </a:rPr>
              <a:t>데이터 기반 보고대상 추천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01000" y="13932000"/>
            <a:ext cx="4149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마지막 보고 이후 경과일 + 새 진행분으로 필요도 산정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이번 주 확인할 과제를 순서대로 제시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기억이 아니라 기록으로 판단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0818000" y="12924000"/>
            <a:ext cx="461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818000" y="12924000"/>
            <a:ext cx="46170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818000" y="13752000"/>
            <a:ext cx="4617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070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③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070000" y="13338000"/>
            <a:ext cx="4113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2A47"/>
                </a:solidFill>
                <a:latin typeface="맑은 고딕"/>
              </a:rPr>
              <a:t>보고 초안 자동생성 · 이력 고정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070000" y="13932000"/>
            <a:ext cx="4149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지난 보고 이후 진행분만 모아 초안 생성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확정본은 스냅샷으로 잠금 — 당시 내용 그대로 보존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지난 보고 대비 변경분·보고 이력 검색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5687000" y="12924000"/>
            <a:ext cx="461700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5687000" y="12924000"/>
            <a:ext cx="4617000" cy="828000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87000" y="13752000"/>
            <a:ext cx="4617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5939000" y="13068000"/>
            <a:ext cx="432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맑은 고딕"/>
              </a:rPr>
              <a:t>④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5939000" y="13338000"/>
            <a:ext cx="4113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2A47"/>
                </a:solidFill>
                <a:latin typeface="맑은 고딕"/>
              </a:rPr>
              <a:t>사내망 전용 · 오프라인 배포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5939000" y="13932000"/>
            <a:ext cx="4149000" cy="7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데이터가 내 PC 밖으로 나가지 않음 (외부 전송 없음)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32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인터넷 차단 PC 에서 ZIP 하나로 설치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· 자동 백업 · 버전 보관 · 휴지통</a:t>
            </a:r>
          </a:p>
        </p:txBody>
      </p:sp>
      <p:pic>
        <p:nvPicPr>
          <p:cNvPr id="81" name="Picture 80" descr="screen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8000" y="15696000"/>
            <a:ext cx="5688000" cy="2844000"/>
          </a:xfrm>
          <a:prstGeom prst="rect">
            <a:avLst/>
          </a:prstGeom>
        </p:spPr>
      </p:pic>
      <p:sp>
        <p:nvSpPr>
          <p:cNvPr id="82" name="Rectangle 81"/>
          <p:cNvSpPr/>
          <p:nvPr/>
        </p:nvSpPr>
        <p:spPr>
          <a:xfrm>
            <a:off x="1908000" y="15696000"/>
            <a:ext cx="5688000" cy="2844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908000" y="18619200"/>
            <a:ext cx="568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A8899"/>
                </a:solidFill>
                <a:latin typeface="맑은 고딕"/>
              </a:rPr>
              <a:t>과제 목록 — 상태 · 담당자 · 마감 · 효과 · 미보고를 한 화면에</a:t>
            </a:r>
          </a:p>
        </p:txBody>
      </p:sp>
      <p:pic>
        <p:nvPicPr>
          <p:cNvPr id="84" name="Picture 83" descr="screen-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000" y="15696000"/>
            <a:ext cx="5688000" cy="2844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7848000" y="15696000"/>
            <a:ext cx="5688000" cy="2844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848000" y="18619200"/>
            <a:ext cx="568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A8899"/>
                </a:solidFill>
                <a:latin typeface="맑은 고딕"/>
              </a:rPr>
              <a:t>보고 대상 후보 — 미보고 경과일 순으로 자동 추천</a:t>
            </a:r>
          </a:p>
        </p:txBody>
      </p:sp>
      <p:pic>
        <p:nvPicPr>
          <p:cNvPr id="87" name="Picture 86" descr="screen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88000" y="15696000"/>
            <a:ext cx="5688000" cy="2844000"/>
          </a:xfrm>
          <a:prstGeom prst="rect">
            <a:avLst/>
          </a:prstGeom>
        </p:spPr>
      </p:pic>
      <p:sp>
        <p:nvSpPr>
          <p:cNvPr id="88" name="Rectangle 87"/>
          <p:cNvSpPr/>
          <p:nvPr/>
        </p:nvSpPr>
        <p:spPr>
          <a:xfrm>
            <a:off x="13788000" y="15696000"/>
            <a:ext cx="5688000" cy="2844000"/>
          </a:xfrm>
          <a:prstGeom prst="rect">
            <a:avLst/>
          </a:prstGeom>
          <a:noFill/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3788000" y="18619200"/>
            <a:ext cx="5688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A8899"/>
                </a:solidFill>
                <a:latin typeface="맑은 고딕"/>
              </a:rPr>
              <a:t>과제 상세 — 개요와 진행이력, 지난 보고 지점 표시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1080000" y="19044000"/>
            <a:ext cx="19224000" cy="900000"/>
          </a:xfrm>
          <a:prstGeom prst="roundRect">
            <a:avLst>
              <a:gd name="adj" fmla="val 12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80000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코드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80000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12,876줄</a:t>
            </a:r>
          </a:p>
        </p:txBody>
      </p:sp>
      <p:sp>
        <p:nvSpPr>
          <p:cNvPr id="93" name="Rectangle 92"/>
          <p:cNvSpPr/>
          <p:nvPr/>
        </p:nvSpPr>
        <p:spPr>
          <a:xfrm>
            <a:off x="3826285" y="19260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826285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API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826285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56개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572571" y="19260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72571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자동 시험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572571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382건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318857" y="19260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9318857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화면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318857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6개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2065142" y="19260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2065142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저장 테이블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2065142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9개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4811428" y="19260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4811428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기능점수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4811428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319 FP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7557714" y="19260000"/>
            <a:ext cx="14400" cy="468000"/>
          </a:xfrm>
          <a:prstGeom prst="rect">
            <a:avLst/>
          </a:prstGeom>
          <a:solidFill>
            <a:srgbClr val="2E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17557714" y="19188000"/>
            <a:ext cx="2746285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CC3EE"/>
                </a:solidFill>
                <a:latin typeface="맑은 고딕"/>
              </a:rPr>
              <a:t>개선 반영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7557714" y="19458000"/>
            <a:ext cx="274628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맑은 고딕"/>
              </a:rPr>
              <a:t>59건/69건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1080000" y="20376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080000" y="20458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764000" y="20354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얼마나 아꼈나 — 외주 개발 대비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0000" y="20959200"/>
            <a:ext cx="1922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같은 시스템을 외부 인원에게 맡겼을 때의 비용을 기능점수로 산정해 비교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080000" y="21312000"/>
            <a:ext cx="19224000" cy="38880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512000" y="21672000"/>
            <a:ext cx="8843040" cy="522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1692000" y="21823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164912" y="21823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(추정)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348406" y="21816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실제 (AI 협업)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1512000" y="22701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692000" y="22345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투입 공수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164912" y="22345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16 M/M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348406" y="22338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0.19 M/M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1512000" y="23223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692000" y="22867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기간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164912" y="22867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4~5개월 · 3~4명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348406" y="22860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3일 · 1명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1512000" y="23745600"/>
            <a:ext cx="8843040" cy="144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692000" y="23389200"/>
            <a:ext cx="2652912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소요 비용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164912" y="23389200"/>
            <a:ext cx="3183494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B5A6E"/>
                </a:solidFill>
                <a:latin typeface="맑은 고딕"/>
              </a:rPr>
              <a:t>약 2.0억 원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7348406" y="23382000"/>
            <a:ext cx="3006633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B8A5F"/>
                </a:solidFill>
                <a:latin typeface="맑은 고딕"/>
              </a:rPr>
              <a:t>약 250만 원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076480" y="21672000"/>
            <a:ext cx="80740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B5A6E"/>
                </a:solidFill>
                <a:latin typeface="맑은 고딕"/>
              </a:rPr>
              <a:t>개발 비용 비교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11076480" y="22032000"/>
            <a:ext cx="8074080" cy="468000"/>
          </a:xfrm>
          <a:prstGeom prst="rect">
            <a:avLst/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1292480" y="22147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외주 개발  약 2.0억 원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11076480" y="22644000"/>
            <a:ext cx="8074080" cy="468000"/>
          </a:xfrm>
          <a:prstGeom prst="rect">
            <a:avLst/>
          </a:prstGeom>
          <a:solidFill>
            <a:srgbClr val="E6EA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11076480" y="22644000"/>
            <a:ext cx="144000" cy="468000"/>
          </a:xfrm>
          <a:prstGeom prst="rect">
            <a:avLst/>
          </a:prstGeom>
          <a:solidFill>
            <a:srgbClr val="0B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1400480" y="22759200"/>
            <a:ext cx="764208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B8A5F"/>
                </a:solidFill>
                <a:latin typeface="맑은 고딕"/>
              </a:rPr>
              <a:t>실제  약 250만 원  (1.3%)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11076480" y="23220000"/>
            <a:ext cx="8074080" cy="684000"/>
          </a:xfrm>
          <a:prstGeom prst="roundRect">
            <a:avLst>
              <a:gd name="adj" fmla="val 12000"/>
            </a:avLst>
          </a:prstGeom>
          <a:solidFill>
            <a:srgbClr val="E4F5EE"/>
          </a:solidFill>
          <a:ln w="15240">
            <a:solidFill>
              <a:srgbClr val="0B8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1076480" y="23364000"/>
            <a:ext cx="8074080" cy="5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B8A5F"/>
                </a:solidFill>
                <a:latin typeface="맑은 고딕"/>
              </a:rPr>
              <a:t>약 1억 9,750만 원 절감  ·  약 80배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512000" y="24012000"/>
            <a:ext cx="18360000" cy="180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1512000" y="24156000"/>
            <a:ext cx="18360000" cy="9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B5A6E"/>
                </a:solidFill>
                <a:latin typeface="맑은 고딕"/>
              </a:rPr>
              <a:t>산출 근거   CRUD 행렬(엔티티 11 × API 56) → 기능점수 간이법 319 FP → 기능점수법·코드라인법·상향식 3중 교차검증 = 16 M/M (범위 13~20). 비용은 시장 실거래 단가·대가산정 가이드·FP 단가 세 방식(1.6~2.6억)의 중간값. 실제 비용의 AI 요금은 대화 2,060회·입력 8.3억 토큰 실측 기준 약 100만 원.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이 차이의 절반은 AI의 구현 속도이고, 나머지 절반은 요구자·개발자·검수자가 같은 사람일 때 사라지는 회의·문서·검수 비용입니다 (외주 16 M/M 중 4.7 M/M, 29%).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1080000" y="25596000"/>
            <a:ext cx="468000" cy="468000"/>
          </a:xfrm>
          <a:prstGeom prst="roundRect">
            <a:avLst>
              <a:gd name="adj" fmla="val 50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080000" y="25678800"/>
            <a:ext cx="468000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764000" y="25574400"/>
            <a:ext cx="18540000" cy="61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0F2A47"/>
                </a:solidFill>
                <a:latin typeface="맑은 고딕"/>
              </a:rPr>
              <a:t>어떻게 만들었나, 그리고 앞으로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80000" y="26280000"/>
            <a:ext cx="9809280" cy="2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9D4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440000" y="26568000"/>
            <a:ext cx="908928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F2A47"/>
                </a:solidFill>
                <a:latin typeface="맑은 고딕"/>
              </a:rPr>
              <a:t>AI 협업 개발 6단계 — 다른 업무에도 그대로 쓸 수 있는 방법론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1440000" y="27000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1440000" y="27136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문제 정의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2970480" y="27000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2970480" y="27136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업무규칙 설계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500960" y="27000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4500960" y="27136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AI 협업 구현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031440" y="27000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6031440" y="27136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자동 시험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7561920" y="27000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561920" y="27136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실사용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9092400" y="27000000"/>
            <a:ext cx="1436880" cy="486000"/>
          </a:xfrm>
          <a:prstGeom prst="roundRect">
            <a:avLst>
              <a:gd name="adj" fmla="val 25000"/>
            </a:avLst>
          </a:prstGeom>
          <a:solidFill>
            <a:srgbClr val="EBF2FE"/>
          </a:solidFill>
          <a:ln w="11430">
            <a:solidFill>
              <a:srgbClr val="1F6F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9092400" y="27136800"/>
            <a:ext cx="143688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EB"/>
                </a:solidFill>
                <a:latin typeface="맑은 고딕"/>
              </a:rPr>
              <a:t>개선 반영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440000" y="27684000"/>
            <a:ext cx="908928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5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코드부터 쓰지 않았습니다. 문제와 업무규칙을 먼저 정의하고 시험 기준을 확정한 뒤, 구현·디버깅·시험을 AI와 반복했습니다. 실사용 결함은 보고 당일 수정했습니다.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4B5A6E"/>
                </a:solidFill>
                <a:latin typeface="맑은 고딕"/>
              </a:rPr>
              <a:t>실사용 중 접수한 개선 요청 69건 중 59건 반영, 10건은 판단 대기.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11249280" y="26280000"/>
            <a:ext cx="9054720" cy="2520000"/>
          </a:xfrm>
          <a:prstGeom prst="roundRect">
            <a:avLst>
              <a:gd name="adj" fmla="val 8000"/>
            </a:avLst>
          </a:prstGeom>
          <a:solidFill>
            <a:srgbClr val="0F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1609280" y="26568000"/>
            <a:ext cx="8334719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9CC3EE"/>
                </a:solidFill>
                <a:latin typeface="맑은 고딕"/>
              </a:rPr>
              <a:t>앞으로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1609280" y="269388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1609280" y="269964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1단계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329280" y="269424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사내 서버로 확장 — 여러 팀장 공동 사용, 사용자·과제번호·권한 체계 표준화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1609280" y="273564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1609280" y="274140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2단계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2329280" y="273600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주간회의 선정 과제와 의사결정 이력까지 관리 — 의사결정 지원 시스템으로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11609280" y="277740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1609280" y="278316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3단계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329280" y="277776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축적된 데이터로 업무현황·이슈 분석, 반복 보고 업무를 AI가 지원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11609280" y="28191600"/>
            <a:ext cx="540000" cy="288000"/>
          </a:xfrm>
          <a:prstGeom prst="roundRect">
            <a:avLst>
              <a:gd name="adj" fmla="val 40000"/>
            </a:avLst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11609280" y="28249200"/>
            <a:ext cx="5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확산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2329280" y="28195200"/>
            <a:ext cx="7542719" cy="46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맑은 고딕"/>
              </a:rPr>
              <a:t>이 6단계 방법론을 표준화해 다른 현업도 직접 업무도구를 만들도록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1080000" y="29016000"/>
            <a:ext cx="19224000" cy="21600"/>
          </a:xfrm>
          <a:prstGeom prst="rect">
            <a:avLst/>
          </a:prstGeom>
          <a:solidFill>
            <a:srgbClr val="C9D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1080000" y="29160000"/>
            <a:ext cx="19224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7A8899"/>
                </a:solidFill>
                <a:latin typeface="맑은 고딕"/>
              </a:rPr>
              <a:t>규모·기간·시험 건수는 2026-09-04 실측치입니다. 외주 비용은 기능점수 기반 추정이며, 단가(시장 단가·직접인건비·FP 단가)는 가정값이므로 「소프트웨어사업 대가산정 가이드」와 「SW기술자 평균임금」 최신 공표치로 대체해 확인하시기 바랍니다.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